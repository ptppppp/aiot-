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98302137-DD29-416A-BDF0-65F821193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857750" cy="6858000"/>
          </a:xfrm>
          <a:prstGeom prst="roundRect">
            <a:avLst>
              <a:gd name="adj" fmla="val 2353"/>
            </a:avLst>
          </a:prstGeom>
          <a:solidFill>
            <a:srgbClr val="083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E21A4C-218C-4F77-83ED-7AF16BE913B0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4000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AIoT 智慧温室</a:t>
            </a:r>
          </a:p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种植系统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D54FD0-4B92-4151-8C8B-C99835BD7FF1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3619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CDEA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DEADB"/>
                </a:solidFill>
                <a:latin typeface="Microsoft YaHei"/>
                <a:ea typeface="Microsoft YaHei"/>
                <a:cs typeface="Microsoft YaHei"/>
              </a:rPr>
              <a:t>基于数字孪生的环境感知、</a:t>
            </a:r>
          </a:p>
          <a:p>
            <a:pPr algn="l">
              <a:defRPr sz="1725" b="0">
                <a:solidFill>
                  <a:srgbClr val="CDEA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DEADB"/>
                </a:solidFill>
                <a:latin typeface="Microsoft YaHei"/>
                <a:ea typeface="Microsoft YaHei"/>
                <a:cs typeface="Microsoft YaHei"/>
              </a:rPr>
              <a:t>智能控制与故障闭环原型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6678D73-1736-40B4-BBCD-3C38BC677E39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571750" cy="28575"/>
          </a:xfrm>
          <a:prstGeom prst="roundRect">
            <a:avLst>
              <a:gd name="adj" fmla="val 50000"/>
            </a:avLst>
          </a:prstGeom>
          <a:solidFill>
            <a:srgbClr val="79C8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974112-AAB4-44F3-8722-48431CBA1F20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</a:t>
            </a:r>
            <a:r>
              <a:rPr lang="zh-CN" altLang="en-US" sz="1425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：智联新效</a:t>
            </a:r>
            <a:endParaRPr sz="1425" b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</a:t>
            </a:r>
            <a:r>
              <a:rPr sz="1425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425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黄柏霖</a:t>
            </a:r>
            <a:endParaRPr sz="1425" b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t="154" b="154"/>
          <a:stretch>
            <a:fillRect/>
          </a:stretch>
        </p:blipFill>
        <p:spPr>
          <a:xfrm>
            <a:off x="5238750" y="914400"/>
            <a:ext cx="6191250" cy="4286250"/>
          </a:xfrm>
          <a:prstGeom prst="roundRect">
            <a:avLst>
              <a:gd name="adj" fmla="val 2667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2457326-DAD1-4187-BAF6-006833BBF0CD}"/>
              </a:ext>
            </a:extLst>
          </p:cNvPr>
          <p:cNvSpPr>
            <a:spLocks noGrp="1"/>
          </p:cNvSpPr>
          <p:nvPr/>
        </p:nvSpPr>
        <p:spPr>
          <a:xfrm>
            <a:off x="5238750" y="5524500"/>
            <a:ext cx="4572000" cy="32385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C9D1EF-2A77-4BFB-9348-8A1D6681BEA4}"/>
              </a:ext>
            </a:extLst>
          </p:cNvPr>
          <p:cNvSpPr>
            <a:spLocks noGrp="1"/>
          </p:cNvSpPr>
          <p:nvPr/>
        </p:nvSpPr>
        <p:spPr>
          <a:xfrm>
            <a:off x="5334000" y="5591175"/>
            <a:ext cx="438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可离线运行 · 可重复演示 · 可验证故障闭环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98CA81-A1C9-426A-B53B-4364256674C5}"/>
              </a:ext>
            </a:extLst>
          </p:cNvPr>
          <p:cNvSpPr>
            <a:spLocks noGrp="1"/>
          </p:cNvSpPr>
          <p:nvPr/>
        </p:nvSpPr>
        <p:spPr>
          <a:xfrm>
            <a:off x="5238750" y="60483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答辩演示版本</a:t>
            </a:r>
          </a:p>
        </p:txBody>
      </p:sp>
    </p:spTree>
    <p:extLst>
      <p:ext uri="{BB962C8B-B14F-4D97-AF65-F5344CB8AC3E}">
        <p14:creationId xmlns:p14="http://schemas.microsoft.com/office/powerpoint/2010/main" val="1112315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171E3ED3-958C-4562-842A-0117B366259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DD4761-EFA7-4501-B6F5-EC46F102B6E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传统温室的关键问题，是“看得见”但难以可靠闭环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0CB3B7-9441-4857-867B-853DD36D7628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从现象到风险，再到工程需求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401495-76EB-407F-A26B-7956F5689252}"/>
              </a:ext>
            </a:extLst>
          </p:cNvPr>
          <p:cNvSpPr>
            <a:spLocks noGrp="1"/>
          </p:cNvSpPr>
          <p:nvPr/>
        </p:nvSpPr>
        <p:spPr>
          <a:xfrm>
            <a:off x="8724900" y="4572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1B0009C-46D5-46C8-83B3-FE7A5B361988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31623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6832769-021E-4505-9AD2-0DAA86551A1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76200" cy="1257300"/>
          </a:xfrm>
          <a:prstGeom prst="roundRect">
            <a:avLst>
              <a:gd name="adj" fmla="val 50000"/>
            </a:avLst>
          </a:prstGeom>
          <a:solidFill>
            <a:srgbClr val="0D6B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93265E-7881-4D84-94F4-BBDAAA4CFCDA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环境数据分散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E143A8-0723-4133-879D-60124196978F}"/>
              </a:ext>
            </a:extLst>
          </p:cNvPr>
          <p:cNvSpPr>
            <a:spLocks noGrp="1"/>
          </p:cNvSpPr>
          <p:nvPr/>
        </p:nvSpPr>
        <p:spPr>
          <a:xfrm>
            <a:off x="914400" y="2505075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状态难以统一判断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5DFA24D-CD3B-4ACA-BB37-B55F892B5426}"/>
              </a:ext>
            </a:extLst>
          </p:cNvPr>
          <p:cNvSpPr>
            <a:spLocks noGrp="1"/>
          </p:cNvSpPr>
          <p:nvPr/>
        </p:nvSpPr>
        <p:spPr>
          <a:xfrm>
            <a:off x="4229100" y="1952625"/>
            <a:ext cx="31623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A0E905-BF4F-4660-A5A1-71D6D13CEAFE}"/>
              </a:ext>
            </a:extLst>
          </p:cNvPr>
          <p:cNvSpPr>
            <a:spLocks noGrp="1"/>
          </p:cNvSpPr>
          <p:nvPr/>
        </p:nvSpPr>
        <p:spPr>
          <a:xfrm>
            <a:off x="4229100" y="1952625"/>
            <a:ext cx="76200" cy="1257300"/>
          </a:xfrm>
          <a:prstGeom prst="roundRect">
            <a:avLst>
              <a:gd name="adj" fmla="val 50000"/>
            </a:avLst>
          </a:prstGeom>
          <a:solidFill>
            <a:srgbClr val="0D6B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8B33A1-82AD-4CA8-9FB1-11E008B37885}"/>
              </a:ext>
            </a:extLst>
          </p:cNvPr>
          <p:cNvSpPr>
            <a:spLocks noGrp="1"/>
          </p:cNvSpPr>
          <p:nvPr/>
        </p:nvSpPr>
        <p:spPr>
          <a:xfrm>
            <a:off x="4457700" y="2143125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控制依赖经验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D617DB-F401-4E44-99BA-442B85B5855D}"/>
              </a:ext>
            </a:extLst>
          </p:cNvPr>
          <p:cNvSpPr>
            <a:spLocks noGrp="1"/>
          </p:cNvSpPr>
          <p:nvPr/>
        </p:nvSpPr>
        <p:spPr>
          <a:xfrm>
            <a:off x="4457700" y="2505075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阈值和执行过程不可追溯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E0AFC9-0E0C-4EAA-BF7C-17BD890CE935}"/>
              </a:ext>
            </a:extLst>
          </p:cNvPr>
          <p:cNvSpPr>
            <a:spLocks noGrp="1"/>
          </p:cNvSpPr>
          <p:nvPr/>
        </p:nvSpPr>
        <p:spPr>
          <a:xfrm>
            <a:off x="7772400" y="1952625"/>
            <a:ext cx="31623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28856D6-318A-420D-81A1-66C90C1AF95C}"/>
              </a:ext>
            </a:extLst>
          </p:cNvPr>
          <p:cNvSpPr>
            <a:spLocks noGrp="1"/>
          </p:cNvSpPr>
          <p:nvPr/>
        </p:nvSpPr>
        <p:spPr>
          <a:xfrm>
            <a:off x="7772400" y="1952625"/>
            <a:ext cx="76200" cy="1257300"/>
          </a:xfrm>
          <a:prstGeom prst="roundRect">
            <a:avLst>
              <a:gd name="adj" fmla="val 50000"/>
            </a:avLst>
          </a:prstGeom>
          <a:solidFill>
            <a:srgbClr val="D889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239C91-00C2-42BE-9EC8-72E07010724F}"/>
              </a:ext>
            </a:extLst>
          </p:cNvPr>
          <p:cNvSpPr>
            <a:spLocks noGrp="1"/>
          </p:cNvSpPr>
          <p:nvPr/>
        </p:nvSpPr>
        <p:spPr>
          <a:xfrm>
            <a:off x="8001000" y="2143125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执行结果难确认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A2CF3E-E0AC-4460-BAA2-5C6BDFC5BEC5}"/>
              </a:ext>
            </a:extLst>
          </p:cNvPr>
          <p:cNvSpPr>
            <a:spLocks noGrp="1"/>
          </p:cNvSpPr>
          <p:nvPr/>
        </p:nvSpPr>
        <p:spPr>
          <a:xfrm>
            <a:off x="8001000" y="2505075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控制目标可能被误当作执行成功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A064C3F-0E95-4A4C-BDAF-0A3727CE726D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31623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0FF8BB4-BA31-4B8E-BADB-8B36C619F00E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76200" cy="1257300"/>
          </a:xfrm>
          <a:prstGeom prst="roundRect">
            <a:avLst>
              <a:gd name="adj" fmla="val 50000"/>
            </a:avLst>
          </a:prstGeom>
          <a:solidFill>
            <a:srgbClr val="0D6B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CDF1B6-5777-4723-A9F4-2CC266A73671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异常数据仍被使用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4D9F1F-A561-4815-B164-39203BEB42CD}"/>
              </a:ext>
            </a:extLst>
          </p:cNvPr>
          <p:cNvSpPr>
            <a:spLocks noGrp="1"/>
          </p:cNvSpPr>
          <p:nvPr/>
        </p:nvSpPr>
        <p:spPr>
          <a:xfrm>
            <a:off x="914400" y="4219575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离线或陈旧读数可能引发错误控制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DA9B3A0-FB59-4E39-ABEE-A93C135ABC2F}"/>
              </a:ext>
            </a:extLst>
          </p:cNvPr>
          <p:cNvSpPr>
            <a:spLocks noGrp="1"/>
          </p:cNvSpPr>
          <p:nvPr/>
        </p:nvSpPr>
        <p:spPr>
          <a:xfrm>
            <a:off x="4229100" y="3667125"/>
            <a:ext cx="31623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6395BF0-A365-47EC-9DD2-B98F1C539362}"/>
              </a:ext>
            </a:extLst>
          </p:cNvPr>
          <p:cNvSpPr>
            <a:spLocks noGrp="1"/>
          </p:cNvSpPr>
          <p:nvPr/>
        </p:nvSpPr>
        <p:spPr>
          <a:xfrm>
            <a:off x="4229100" y="3667125"/>
            <a:ext cx="76200" cy="1257300"/>
          </a:xfrm>
          <a:prstGeom prst="roundRect">
            <a:avLst>
              <a:gd name="adj" fmla="val 50000"/>
            </a:avLst>
          </a:prstGeom>
          <a:solidFill>
            <a:srgbClr val="0D6B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D8C6BF2-8521-465C-9301-9DB004FFE43E}"/>
              </a:ext>
            </a:extLst>
          </p:cNvPr>
          <p:cNvSpPr>
            <a:spLocks noGrp="1"/>
          </p:cNvSpPr>
          <p:nvPr/>
        </p:nvSpPr>
        <p:spPr>
          <a:xfrm>
            <a:off x="4457700" y="3857625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故障缺乏闭环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627865-71FA-4577-BA05-9BAE07BA2B41}"/>
              </a:ext>
            </a:extLst>
          </p:cNvPr>
          <p:cNvSpPr>
            <a:spLocks noGrp="1"/>
          </p:cNvSpPr>
          <p:nvPr/>
        </p:nvSpPr>
        <p:spPr>
          <a:xfrm>
            <a:off x="4457700" y="4219575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报警、恢复和导出难以统一管理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CD8327-C635-4E8C-B207-B07B7988ED41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08204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需求：把“数据可信度、策略决策、设备反馈、报警追溯”放到同一条可验证链路中</a:t>
            </a:r>
            <a:r>
              <a:rPr sz="1800" b="1" dirty="0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800" b="1" dirty="0">
              <a:solidFill>
                <a:srgbClr val="083B3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80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dirty="0"/>
              <a:t>温室的难点不只是采集数据，而是可靠地把数据、控制和反馈连成闭环。</a:t>
            </a:r>
          </a:p>
          <a:p>
            <a:pPr algn="l">
              <a:defRPr sz="180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800" b="1" dirty="0">
              <a:solidFill>
                <a:srgbClr val="083B35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80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endParaRPr sz="1800" b="1" dirty="0">
              <a:solidFill>
                <a:srgbClr val="083B3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E880205-BEA7-47DC-B548-0806A101976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oundRect">
            <a:avLst>
              <a:gd name="adj" fmla="val 50000"/>
            </a:avLst>
          </a:prstGeom>
          <a:solidFill>
            <a:srgbClr val="CFE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211D4A2-1652-4881-8F31-4669E207FB99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 · 数字孪生答辩原型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946911-1136-434E-9E97-5599AC5D172C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61142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57BF73D7-8C72-4649-8AEC-CCF1812C950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7145FB-8F88-47F3-A421-7E798E00E6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项目目标：让控制过程可见、可复现、可验证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74D113-FBBA-4439-9254-80139C777EA5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这不是单纯的数据大屏，而是本地运行的数字孪生控制闭环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95C677-92FF-4A94-A122-8F8BBFB2081A}"/>
              </a:ext>
            </a:extLst>
          </p:cNvPr>
          <p:cNvSpPr>
            <a:spLocks noGrp="1"/>
          </p:cNvSpPr>
          <p:nvPr/>
        </p:nvSpPr>
        <p:spPr>
          <a:xfrm>
            <a:off x="8724900" y="4572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0992781-B847-4AA5-887D-EBA13C2ABAAE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4859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1E3CEB-0EAB-43C5-949C-EF4BE53CD77F}"/>
              </a:ext>
            </a:extLst>
          </p:cNvPr>
          <p:cNvSpPr>
            <a:spLocks noGrp="1"/>
          </p:cNvSpPr>
          <p:nvPr/>
        </p:nvSpPr>
        <p:spPr>
          <a:xfrm>
            <a:off x="838200" y="26479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70ECAE-1816-4C83-B548-EFBB4EF552E0}"/>
              </a:ext>
            </a:extLst>
          </p:cNvPr>
          <p:cNvSpPr>
            <a:spLocks noGrp="1"/>
          </p:cNvSpPr>
          <p:nvPr/>
        </p:nvSpPr>
        <p:spPr>
          <a:xfrm>
            <a:off x="828675" y="300037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环境感知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4DDDB8-1204-4A0C-99EE-7B8E49E0598A}"/>
              </a:ext>
            </a:extLst>
          </p:cNvPr>
          <p:cNvSpPr>
            <a:spLocks noGrp="1"/>
          </p:cNvSpPr>
          <p:nvPr/>
        </p:nvSpPr>
        <p:spPr>
          <a:xfrm>
            <a:off x="2209800" y="28098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30884B1-5761-48DF-921A-C78F5CA43F34}"/>
              </a:ext>
            </a:extLst>
          </p:cNvPr>
          <p:cNvSpPr>
            <a:spLocks noGrp="1"/>
          </p:cNvSpPr>
          <p:nvPr/>
        </p:nvSpPr>
        <p:spPr>
          <a:xfrm>
            <a:off x="2476500" y="2476500"/>
            <a:ext cx="1485900" cy="1000125"/>
          </a:xfrm>
          <a:prstGeom prst="roundRect">
            <a:avLst>
              <a:gd name="adj" fmla="val 11429"/>
            </a:avLst>
          </a:prstGeom>
          <a:solidFill>
            <a:srgbClr val="DDF1E2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F1FD1A-4D7C-4BB9-B219-373240B5C758}"/>
              </a:ext>
            </a:extLst>
          </p:cNvPr>
          <p:cNvSpPr>
            <a:spLocks noGrp="1"/>
          </p:cNvSpPr>
          <p:nvPr/>
        </p:nvSpPr>
        <p:spPr>
          <a:xfrm>
            <a:off x="2628900" y="26479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201F96-0160-453D-A7EA-AD0794855318}"/>
              </a:ext>
            </a:extLst>
          </p:cNvPr>
          <p:cNvSpPr>
            <a:spLocks noGrp="1"/>
          </p:cNvSpPr>
          <p:nvPr/>
        </p:nvSpPr>
        <p:spPr>
          <a:xfrm>
            <a:off x="2476500" y="3000375"/>
            <a:ext cx="143334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数据质量判断</a:t>
            </a:r>
            <a:endParaRPr sz="1350" b="1" dirty="0">
              <a:solidFill>
                <a:srgbClr val="083B3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408814-A90D-49D7-8959-8F0914F1A2C9}"/>
              </a:ext>
            </a:extLst>
          </p:cNvPr>
          <p:cNvSpPr>
            <a:spLocks noGrp="1"/>
          </p:cNvSpPr>
          <p:nvPr/>
        </p:nvSpPr>
        <p:spPr>
          <a:xfrm>
            <a:off x="4000500" y="28098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5638812-20B2-4BE7-BA02-FC6C78B567A8}"/>
              </a:ext>
            </a:extLst>
          </p:cNvPr>
          <p:cNvSpPr>
            <a:spLocks noGrp="1"/>
          </p:cNvSpPr>
          <p:nvPr/>
        </p:nvSpPr>
        <p:spPr>
          <a:xfrm>
            <a:off x="4267200" y="2476500"/>
            <a:ext cx="14859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2084F2-7608-4115-9552-75D20CFCB78C}"/>
              </a:ext>
            </a:extLst>
          </p:cNvPr>
          <p:cNvSpPr>
            <a:spLocks noGrp="1"/>
          </p:cNvSpPr>
          <p:nvPr/>
        </p:nvSpPr>
        <p:spPr>
          <a:xfrm>
            <a:off x="4419600" y="26479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1EBEEF-A1A6-408A-AAC8-CA93E3A351C4}"/>
              </a:ext>
            </a:extLst>
          </p:cNvPr>
          <p:cNvSpPr>
            <a:spLocks noGrp="1"/>
          </p:cNvSpPr>
          <p:nvPr/>
        </p:nvSpPr>
        <p:spPr>
          <a:xfrm>
            <a:off x="4410075" y="300037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控制策略</a:t>
            </a:r>
            <a:endParaRPr sz="1350" b="1" dirty="0">
              <a:solidFill>
                <a:srgbClr val="083B3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864FD9-10EF-4663-8DF2-5EA0E0AB72DA}"/>
              </a:ext>
            </a:extLst>
          </p:cNvPr>
          <p:cNvSpPr>
            <a:spLocks noGrp="1"/>
          </p:cNvSpPr>
          <p:nvPr/>
        </p:nvSpPr>
        <p:spPr>
          <a:xfrm>
            <a:off x="5791200" y="28098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16A8C4A-1F34-41C9-B6D6-D0DE8FE73F2A}"/>
              </a:ext>
            </a:extLst>
          </p:cNvPr>
          <p:cNvSpPr>
            <a:spLocks noGrp="1"/>
          </p:cNvSpPr>
          <p:nvPr/>
        </p:nvSpPr>
        <p:spPr>
          <a:xfrm>
            <a:off x="6057900" y="2476500"/>
            <a:ext cx="14859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ECE93F-3E37-44A6-ABE7-5F3B42CF6ED2}"/>
              </a:ext>
            </a:extLst>
          </p:cNvPr>
          <p:cNvSpPr>
            <a:spLocks noGrp="1"/>
          </p:cNvSpPr>
          <p:nvPr/>
        </p:nvSpPr>
        <p:spPr>
          <a:xfrm>
            <a:off x="6210300" y="26479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134BC9E-D2B3-43FC-8CAF-4157B9EE00F8}"/>
              </a:ext>
            </a:extLst>
          </p:cNvPr>
          <p:cNvSpPr>
            <a:spLocks noGrp="1"/>
          </p:cNvSpPr>
          <p:nvPr/>
        </p:nvSpPr>
        <p:spPr>
          <a:xfrm>
            <a:off x="6200775" y="300037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控制命令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0BD16F-A702-4CFF-A234-38FD93BEBC06}"/>
              </a:ext>
            </a:extLst>
          </p:cNvPr>
          <p:cNvSpPr>
            <a:spLocks noGrp="1"/>
          </p:cNvSpPr>
          <p:nvPr/>
        </p:nvSpPr>
        <p:spPr>
          <a:xfrm>
            <a:off x="7581900" y="28098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058B864-FF07-4EA7-85AA-7D98AE7B6A20}"/>
              </a:ext>
            </a:extLst>
          </p:cNvPr>
          <p:cNvSpPr>
            <a:spLocks noGrp="1"/>
          </p:cNvSpPr>
          <p:nvPr/>
        </p:nvSpPr>
        <p:spPr>
          <a:xfrm>
            <a:off x="7848600" y="2476500"/>
            <a:ext cx="14859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0429BC5-8B98-4EF1-8D12-00D9AD66D38B}"/>
              </a:ext>
            </a:extLst>
          </p:cNvPr>
          <p:cNvSpPr>
            <a:spLocks noGrp="1"/>
          </p:cNvSpPr>
          <p:nvPr/>
        </p:nvSpPr>
        <p:spPr>
          <a:xfrm>
            <a:off x="8001000" y="26479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FDD764-8696-44DC-ADA6-FFE29FFC3C8E}"/>
              </a:ext>
            </a:extLst>
          </p:cNvPr>
          <p:cNvSpPr>
            <a:spLocks noGrp="1"/>
          </p:cNvSpPr>
          <p:nvPr/>
        </p:nvSpPr>
        <p:spPr>
          <a:xfrm>
            <a:off x="7924800" y="3000375"/>
            <a:ext cx="1304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设备实际执行</a:t>
            </a:r>
            <a:endParaRPr sz="1350" b="1" dirty="0">
              <a:solidFill>
                <a:srgbClr val="083B3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F1FB30E-2450-4E62-9CE6-C3C78A883134}"/>
              </a:ext>
            </a:extLst>
          </p:cNvPr>
          <p:cNvSpPr>
            <a:spLocks noGrp="1"/>
          </p:cNvSpPr>
          <p:nvPr/>
        </p:nvSpPr>
        <p:spPr>
          <a:xfrm>
            <a:off x="9372600" y="28098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3B7C58D-116B-43A3-9AC5-C03DFB097D05}"/>
              </a:ext>
            </a:extLst>
          </p:cNvPr>
          <p:cNvSpPr>
            <a:spLocks noGrp="1"/>
          </p:cNvSpPr>
          <p:nvPr/>
        </p:nvSpPr>
        <p:spPr>
          <a:xfrm>
            <a:off x="9639300" y="2476500"/>
            <a:ext cx="14859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A147BD5-04DA-4BC4-AAEF-B973DE90EEAD}"/>
              </a:ext>
            </a:extLst>
          </p:cNvPr>
          <p:cNvSpPr>
            <a:spLocks noGrp="1"/>
          </p:cNvSpPr>
          <p:nvPr/>
        </p:nvSpPr>
        <p:spPr>
          <a:xfrm>
            <a:off x="9791700" y="26479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3B76397-D258-46DB-A807-55D0210FE677}"/>
              </a:ext>
            </a:extLst>
          </p:cNvPr>
          <p:cNvSpPr>
            <a:spLocks noGrp="1"/>
          </p:cNvSpPr>
          <p:nvPr/>
        </p:nvSpPr>
        <p:spPr>
          <a:xfrm>
            <a:off x="9782175" y="300037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报警与记录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90FE238-218E-41EB-B508-C5A7A81B1172}"/>
              </a:ext>
            </a:extLst>
          </p:cNvPr>
          <p:cNvSpPr>
            <a:spLocks noGrp="1"/>
          </p:cNvSpPr>
          <p:nvPr/>
        </p:nvSpPr>
        <p:spPr>
          <a:xfrm>
            <a:off x="685800" y="4286249"/>
            <a:ext cx="10439400" cy="16097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7A97FC5-163F-4033-BEAA-BD99B8E171F0}"/>
              </a:ext>
            </a:extLst>
          </p:cNvPr>
          <p:cNvSpPr>
            <a:spLocks noGrp="1"/>
          </p:cNvSpPr>
          <p:nvPr/>
        </p:nvSpPr>
        <p:spPr>
          <a:xfrm>
            <a:off x="685800" y="4286249"/>
            <a:ext cx="70945" cy="1600199"/>
          </a:xfrm>
          <a:prstGeom prst="roundRect">
            <a:avLst>
              <a:gd name="adj" fmla="val 50000"/>
            </a:avLst>
          </a:prstGeom>
          <a:solidFill>
            <a:srgbClr val="0D6B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AF1D807-DFE6-4B25-B70D-A4ED2BAEFC10}"/>
              </a:ext>
            </a:extLst>
          </p:cNvPr>
          <p:cNvSpPr>
            <a:spLocks noGrp="1"/>
          </p:cNvSpPr>
          <p:nvPr/>
        </p:nvSpPr>
        <p:spPr>
          <a:xfrm>
            <a:off x="914400" y="44767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核心定位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EFA28C-70A7-4E6E-B0E6-0078E6896BB9}"/>
              </a:ext>
            </a:extLst>
          </p:cNvPr>
          <p:cNvSpPr>
            <a:spLocks noGrp="1"/>
          </p:cNvSpPr>
          <p:nvPr/>
        </p:nvSpPr>
        <p:spPr>
          <a:xfrm>
            <a:off x="914400" y="4838700"/>
            <a:ext cx="6858000" cy="923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当前实现：本地模拟数据通道</a:t>
            </a:r>
            <a:r>
              <a:rPr sz="1275" b="0" dirty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75" b="0" dirty="0" err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模拟设备控制通道</a:t>
            </a:r>
            <a:r>
              <a:rPr sz="1275" b="0" dirty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75" b="0" dirty="0" err="1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可重复故障注入</a:t>
            </a:r>
            <a:r>
              <a:rPr sz="1275" b="0" dirty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275" dirty="0">
              <a:solidFill>
                <a:srgbClr val="5D71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5D71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6A1DA76-C9E2-4F12-8FBC-AAE23791503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oundRect">
            <a:avLst>
              <a:gd name="adj" fmla="val 50000"/>
            </a:avLst>
          </a:prstGeom>
          <a:solidFill>
            <a:srgbClr val="CFE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AB4F407-D536-4051-9D33-99BE671526A2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 · 数字孪生答辩原型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3D2E72-C33F-4C7F-B867-F6A9F6FD2874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2559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ABE93DE6-AEE5-4370-A54A-3383862D24D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072F62-AB91-41F2-8D0B-79577ACDE4E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架构把“当前实现”与“未来接入”明确分开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BD61F4-4BFF-4FDE-8690-0FD01F7E13DC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当前原型完成前端数字孪生与控制闭环；真实 IoT 设备在扩展接口之后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AEA608-FDBD-4F34-93E3-E847D43F7B2D}"/>
              </a:ext>
            </a:extLst>
          </p:cNvPr>
          <p:cNvSpPr>
            <a:spLocks noGrp="1"/>
          </p:cNvSpPr>
          <p:nvPr/>
        </p:nvSpPr>
        <p:spPr>
          <a:xfrm>
            <a:off x="8724900" y="4572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54394CC-774B-4EC7-ADD9-D695FA2E6BB9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381250" cy="2000250"/>
          </a:xfrm>
          <a:prstGeom prst="roundRect">
            <a:avLst>
              <a:gd name="adj" fmla="val 5714"/>
            </a:avLst>
          </a:prstGeom>
          <a:solidFill>
            <a:srgbClr val="EAF6EE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AA5FE2-9F23-4723-A224-5F0422863146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展示层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96DA39-4D1E-439F-BF5A-FA663AD62EF3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2000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7 个页面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答辩控制台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演示指引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A3E0BF4-9403-484F-A20D-48B20F7784C5}"/>
              </a:ext>
            </a:extLst>
          </p:cNvPr>
          <p:cNvSpPr>
            <a:spLocks noGrp="1"/>
          </p:cNvSpPr>
          <p:nvPr/>
        </p:nvSpPr>
        <p:spPr>
          <a:xfrm>
            <a:off x="3409950" y="1952625"/>
            <a:ext cx="2381250" cy="2000250"/>
          </a:xfrm>
          <a:prstGeom prst="roundRect">
            <a:avLst>
              <a:gd name="adj" fmla="val 5714"/>
            </a:avLst>
          </a:prstGeom>
          <a:solidFill>
            <a:srgbClr val="EAF6EE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1F80DA-6284-471A-8786-11F1F2A68E00}"/>
              </a:ext>
            </a:extLst>
          </p:cNvPr>
          <p:cNvSpPr>
            <a:spLocks noGrp="1"/>
          </p:cNvSpPr>
          <p:nvPr/>
        </p:nvSpPr>
        <p:spPr>
          <a:xfrm>
            <a:off x="3581400" y="21717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业务与状态层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9A11F0-900C-4132-84CE-0C1117F71522}"/>
              </a:ext>
            </a:extLst>
          </p:cNvPr>
          <p:cNvSpPr>
            <a:spLocks noGrp="1"/>
          </p:cNvSpPr>
          <p:nvPr/>
        </p:nvSpPr>
        <p:spPr>
          <a:xfrm>
            <a:off x="3581400" y="2590800"/>
            <a:ext cx="2000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模拟时钟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控制/报警引擎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C6FA11A-E6F8-4D4E-9345-3CED301E3FA8}"/>
              </a:ext>
            </a:extLst>
          </p:cNvPr>
          <p:cNvSpPr>
            <a:spLocks noGrp="1"/>
          </p:cNvSpPr>
          <p:nvPr/>
        </p:nvSpPr>
        <p:spPr>
          <a:xfrm>
            <a:off x="6134100" y="1952625"/>
            <a:ext cx="2381250" cy="2000250"/>
          </a:xfrm>
          <a:prstGeom prst="roundRect">
            <a:avLst>
              <a:gd name="adj" fmla="val 5714"/>
            </a:avLst>
          </a:prstGeom>
          <a:solidFill>
            <a:srgbClr val="EAF6EE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CA5422-FDDF-495A-B6F2-1535FBEF3E49}"/>
              </a:ext>
            </a:extLst>
          </p:cNvPr>
          <p:cNvSpPr>
            <a:spLocks noGrp="1"/>
          </p:cNvSpPr>
          <p:nvPr/>
        </p:nvSpPr>
        <p:spPr>
          <a:xfrm>
            <a:off x="6305550" y="21717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场景模拟器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E35310-B14B-4CA5-8CC8-342F5E80E4C7}"/>
              </a:ext>
            </a:extLst>
          </p:cNvPr>
          <p:cNvSpPr>
            <a:spLocks noGrp="1"/>
          </p:cNvSpPr>
          <p:nvPr/>
        </p:nvSpPr>
        <p:spPr>
          <a:xfrm>
            <a:off x="6305550" y="2590800"/>
            <a:ext cx="2000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5 个预设场景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固定随机种子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单步推进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B4D2834-7E19-41CD-8A07-CB7570B3733C}"/>
              </a:ext>
            </a:extLst>
          </p:cNvPr>
          <p:cNvSpPr>
            <a:spLocks noGrp="1"/>
          </p:cNvSpPr>
          <p:nvPr/>
        </p:nvSpPr>
        <p:spPr>
          <a:xfrm>
            <a:off x="8858250" y="1952625"/>
            <a:ext cx="2381250" cy="2000250"/>
          </a:xfrm>
          <a:prstGeom prst="roundRect">
            <a:avLst>
              <a:gd name="adj" fmla="val 5714"/>
            </a:avLst>
          </a:prstGeom>
          <a:solidFill>
            <a:srgbClr val="EAF6EE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D603B3-2543-4FA2-81B9-AAECF5F70167}"/>
              </a:ext>
            </a:extLst>
          </p:cNvPr>
          <p:cNvSpPr>
            <a:spLocks noGrp="1"/>
          </p:cNvSpPr>
          <p:nvPr/>
        </p:nvSpPr>
        <p:spPr>
          <a:xfrm>
            <a:off x="9029700" y="217170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通道与记录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F5F6B5-F61E-4124-B843-D3CD6C64422A}"/>
              </a:ext>
            </a:extLst>
          </p:cNvPr>
          <p:cNvSpPr>
            <a:spLocks noGrp="1"/>
          </p:cNvSpPr>
          <p:nvPr/>
        </p:nvSpPr>
        <p:spPr>
          <a:xfrm>
            <a:off x="9029700" y="2590800"/>
            <a:ext cx="2000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模拟数据通道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模拟控制通道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快照/日志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CD1083-9954-48D1-A39E-1262B9765382}"/>
              </a:ext>
            </a:extLst>
          </p:cNvPr>
          <p:cNvSpPr>
            <a:spLocks noGrp="1"/>
          </p:cNvSpPr>
          <p:nvPr/>
        </p:nvSpPr>
        <p:spPr>
          <a:xfrm>
            <a:off x="685800" y="16478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当前已实现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643ECE1-ED84-4F37-BC9B-C26D4C6F10A1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0820400" cy="9525"/>
          </a:xfrm>
          <a:prstGeom prst="roundRect">
            <a:avLst>
              <a:gd name="adj" fmla="val 50000"/>
            </a:avLst>
          </a:prstGeom>
          <a:solidFill>
            <a:srgbClr val="CFE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4B6239-FA08-4FDE-8D2B-8FAFE2FC7743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rPr>
              <a:t>未来扩展接口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956D13E-6FD3-436C-8093-91EF43DE24E6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1866900" cy="323850"/>
          </a:xfrm>
          <a:prstGeom prst="roundRect">
            <a:avLst>
              <a:gd name="adj" fmla="val 35294"/>
            </a:avLst>
          </a:prstGeom>
          <a:solidFill>
            <a:srgbClr val="FFF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DBB5D4-1514-4AB3-8E07-6C15D7ABCA9E}"/>
              </a:ext>
            </a:extLst>
          </p:cNvPr>
          <p:cNvSpPr>
            <a:spLocks noGrp="1"/>
          </p:cNvSpPr>
          <p:nvPr/>
        </p:nvSpPr>
        <p:spPr>
          <a:xfrm>
            <a:off x="781050" y="53530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rPr>
              <a:t>真实传感器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2C2CCE0-1F56-44A1-98EF-93C0EDF41EB5}"/>
              </a:ext>
            </a:extLst>
          </p:cNvPr>
          <p:cNvSpPr>
            <a:spLocks noGrp="1"/>
          </p:cNvSpPr>
          <p:nvPr/>
        </p:nvSpPr>
        <p:spPr>
          <a:xfrm>
            <a:off x="2781300" y="5286375"/>
            <a:ext cx="1866900" cy="323850"/>
          </a:xfrm>
          <a:prstGeom prst="roundRect">
            <a:avLst>
              <a:gd name="adj" fmla="val 35294"/>
            </a:avLst>
          </a:prstGeom>
          <a:solidFill>
            <a:srgbClr val="FFF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8C7933-C90D-425E-9747-CC88FE1AE8FD}"/>
              </a:ext>
            </a:extLst>
          </p:cNvPr>
          <p:cNvSpPr>
            <a:spLocks noGrp="1"/>
          </p:cNvSpPr>
          <p:nvPr/>
        </p:nvSpPr>
        <p:spPr>
          <a:xfrm>
            <a:off x="2876550" y="53530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rPr>
              <a:t>边缘网关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2430630-1ECA-47E6-9AA2-7BDE36D8C708}"/>
              </a:ext>
            </a:extLst>
          </p:cNvPr>
          <p:cNvSpPr>
            <a:spLocks noGrp="1"/>
          </p:cNvSpPr>
          <p:nvPr/>
        </p:nvSpPr>
        <p:spPr>
          <a:xfrm>
            <a:off x="4876800" y="5286375"/>
            <a:ext cx="1866900" cy="323850"/>
          </a:xfrm>
          <a:prstGeom prst="roundRect">
            <a:avLst>
              <a:gd name="adj" fmla="val 35294"/>
            </a:avLst>
          </a:prstGeom>
          <a:solidFill>
            <a:srgbClr val="FFF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2FE446-6A2D-40B4-90C9-6D6DCCA96CAF}"/>
              </a:ext>
            </a:extLst>
          </p:cNvPr>
          <p:cNvSpPr>
            <a:spLocks noGrp="1"/>
          </p:cNvSpPr>
          <p:nvPr/>
        </p:nvSpPr>
        <p:spPr>
          <a:xfrm>
            <a:off x="4972050" y="53530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rPr>
              <a:t>HTTP / WebSocket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E478FB9-6848-43F2-8B90-AE53FDB9BF71}"/>
              </a:ext>
            </a:extLst>
          </p:cNvPr>
          <p:cNvSpPr>
            <a:spLocks noGrp="1"/>
          </p:cNvSpPr>
          <p:nvPr/>
        </p:nvSpPr>
        <p:spPr>
          <a:xfrm>
            <a:off x="6972300" y="5286375"/>
            <a:ext cx="1866900" cy="323850"/>
          </a:xfrm>
          <a:prstGeom prst="roundRect">
            <a:avLst>
              <a:gd name="adj" fmla="val 35294"/>
            </a:avLst>
          </a:prstGeom>
          <a:solidFill>
            <a:srgbClr val="FFF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B690D3-A86C-4BAB-8DAB-E9BBF1847FD8}"/>
              </a:ext>
            </a:extLst>
          </p:cNvPr>
          <p:cNvSpPr>
            <a:spLocks noGrp="1"/>
          </p:cNvSpPr>
          <p:nvPr/>
        </p:nvSpPr>
        <p:spPr>
          <a:xfrm>
            <a:off x="7067550" y="53530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rPr>
              <a:t>MQTT 数据与设备控制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E1E342F-6025-4B94-BCD5-047EB18049CA}"/>
              </a:ext>
            </a:extLst>
          </p:cNvPr>
          <p:cNvSpPr>
            <a:spLocks noGrp="1"/>
          </p:cNvSpPr>
          <p:nvPr/>
        </p:nvSpPr>
        <p:spPr>
          <a:xfrm>
            <a:off x="9067800" y="5286375"/>
            <a:ext cx="1866900" cy="323850"/>
          </a:xfrm>
          <a:prstGeom prst="roundRect">
            <a:avLst>
              <a:gd name="adj" fmla="val 35294"/>
            </a:avLst>
          </a:prstGeom>
          <a:solidFill>
            <a:srgbClr val="FFF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005B138-1676-490D-B902-5470BB577D98}"/>
              </a:ext>
            </a:extLst>
          </p:cNvPr>
          <p:cNvSpPr>
            <a:spLocks noGrp="1"/>
          </p:cNvSpPr>
          <p:nvPr/>
        </p:nvSpPr>
        <p:spPr>
          <a:xfrm>
            <a:off x="9163050" y="53530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8917"/>
                </a:solidFill>
                <a:latin typeface="Microsoft YaHei"/>
                <a:ea typeface="Microsoft YaHei"/>
                <a:cs typeface="Microsoft YaHei"/>
              </a:rPr>
              <a:t>数据库与历史分析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B197CD-0FA8-4FA8-907A-5A0DDC3BEED6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扩展边界：当前未接入真实传感器、控制器、边缘网关、HTTP、WebSocket、MQTT 或数据库。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277463C-07C8-45DB-A090-F3694E0500A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oundRect">
            <a:avLst>
              <a:gd name="adj" fmla="val 50000"/>
            </a:avLst>
          </a:prstGeom>
          <a:solidFill>
            <a:srgbClr val="CFE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07A7D36-5D7D-4A49-BC14-D061839CC385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 · 数字孪生答辩原型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9582C3-DC8B-42ED-BEE3-464614F27CB7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9256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5FF02F4-78A5-4459-8B14-DD1F374752A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D2FFC1-FEE8-4A66-BDFF-C70D7B8588F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核心功能集中展示“状态可信、控制可查、演示可复现”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5AA1D3-A1BD-454B-A461-15E878FA94D0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真实页面截图均来自当前项目运行状态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42B840-603A-4760-A1B4-6DB2EDC050CE}"/>
              </a:ext>
            </a:extLst>
          </p:cNvPr>
          <p:cNvSpPr>
            <a:spLocks noGrp="1"/>
          </p:cNvSpPr>
          <p:nvPr/>
        </p:nvSpPr>
        <p:spPr>
          <a:xfrm>
            <a:off x="8724900" y="4572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t="588" b="588"/>
          <a:stretch>
            <a:fillRect/>
          </a:stretch>
        </p:blipFill>
        <p:spPr>
          <a:xfrm>
            <a:off x="685800" y="1905000"/>
            <a:ext cx="4857750" cy="3333750"/>
          </a:xfrm>
          <a:prstGeom prst="roundRect">
            <a:avLst>
              <a:gd name="adj" fmla="val 3429"/>
            </a:avLst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rcRect t="7288" b="7288"/>
          <a:stretch>
            <a:fillRect/>
          </a:stretch>
        </p:blipFill>
        <p:spPr>
          <a:xfrm>
            <a:off x="5886450" y="1905000"/>
            <a:ext cx="5619750" cy="3333750"/>
          </a:xfrm>
          <a:prstGeom prst="roundRect">
            <a:avLst>
              <a:gd name="adj" fmla="val 3429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07C419C-916F-49AC-B50A-4E54EB597C96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428750" cy="323850"/>
          </a:xfrm>
          <a:prstGeom prst="roundRect">
            <a:avLst>
              <a:gd name="adj" fmla="val 35294"/>
            </a:avLst>
          </a:prstGeom>
          <a:solidFill>
            <a:srgbClr val="EAF6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11F832-F524-4063-99D9-D9C5E5EA0B5E}"/>
              </a:ext>
            </a:extLst>
          </p:cNvPr>
          <p:cNvSpPr>
            <a:spLocks noGrp="1"/>
          </p:cNvSpPr>
          <p:nvPr/>
        </p:nvSpPr>
        <p:spPr>
          <a:xfrm>
            <a:off x="781050" y="55911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5 个预设场景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984F10F-F5DB-45B5-B13F-6CE79A4DCEC8}"/>
              </a:ext>
            </a:extLst>
          </p:cNvPr>
          <p:cNvSpPr>
            <a:spLocks noGrp="1"/>
          </p:cNvSpPr>
          <p:nvPr/>
        </p:nvSpPr>
        <p:spPr>
          <a:xfrm>
            <a:off x="2324100" y="5524500"/>
            <a:ext cx="1571625" cy="323850"/>
          </a:xfrm>
          <a:prstGeom prst="roundRect">
            <a:avLst>
              <a:gd name="adj" fmla="val 35294"/>
            </a:avLst>
          </a:prstGeom>
          <a:solidFill>
            <a:srgbClr val="EAF6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151E0A-C61F-4E90-B7F6-7F058004A3E8}"/>
              </a:ext>
            </a:extLst>
          </p:cNvPr>
          <p:cNvSpPr>
            <a:spLocks noGrp="1"/>
          </p:cNvSpPr>
          <p:nvPr/>
        </p:nvSpPr>
        <p:spPr>
          <a:xfrm>
            <a:off x="2419350" y="5591175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数据质量模型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B404A3D-CA8C-438C-B2F0-C7C08C823B93}"/>
              </a:ext>
            </a:extLst>
          </p:cNvPr>
          <p:cNvSpPr>
            <a:spLocks noGrp="1"/>
          </p:cNvSpPr>
          <p:nvPr/>
        </p:nvSpPr>
        <p:spPr>
          <a:xfrm>
            <a:off x="4105275" y="5524500"/>
            <a:ext cx="1905000" cy="323850"/>
          </a:xfrm>
          <a:prstGeom prst="roundRect">
            <a:avLst>
              <a:gd name="adj" fmla="val 35294"/>
            </a:avLst>
          </a:prstGeom>
          <a:solidFill>
            <a:srgbClr val="EAF6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68A3BF-3ED1-4070-919A-5D81A6A2547E}"/>
              </a:ext>
            </a:extLst>
          </p:cNvPr>
          <p:cNvSpPr>
            <a:spLocks noGrp="1"/>
          </p:cNvSpPr>
          <p:nvPr/>
        </p:nvSpPr>
        <p:spPr>
          <a:xfrm>
            <a:off x="4200525" y="55911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报警筛选与 CSV 导出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7BB3EE7-F0EF-4DA4-A437-BD288536663E}"/>
              </a:ext>
            </a:extLst>
          </p:cNvPr>
          <p:cNvSpPr>
            <a:spLocks noGrp="1"/>
          </p:cNvSpPr>
          <p:nvPr/>
        </p:nvSpPr>
        <p:spPr>
          <a:xfrm>
            <a:off x="6219825" y="5524500"/>
            <a:ext cx="2000250" cy="323850"/>
          </a:xfrm>
          <a:prstGeom prst="roundRect">
            <a:avLst>
              <a:gd name="adj" fmla="val 35294"/>
            </a:avLst>
          </a:prstGeom>
          <a:solidFill>
            <a:srgbClr val="EAF6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9DB0DB-6F2D-4738-A658-0DB8DE39FDC2}"/>
              </a:ext>
            </a:extLst>
          </p:cNvPr>
          <p:cNvSpPr>
            <a:spLocks noGrp="1"/>
          </p:cNvSpPr>
          <p:nvPr/>
        </p:nvSpPr>
        <p:spPr>
          <a:xfrm>
            <a:off x="6315075" y="55911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6B59"/>
                </a:solidFill>
                <a:latin typeface="Microsoft YaHei"/>
                <a:ea typeface="Microsoft YaHei"/>
                <a:cs typeface="Microsoft YaHei"/>
              </a:rPr>
              <a:t>快照导入/导出/校验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D28D53-7377-4763-B526-3392BBFAB5FF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环境监测 · 自动控制 · 目标/实际状态分离 · 报警生命周期 · 操作记录上限 200 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7CAF8FF-A4DF-4E11-B178-A61C5F092D6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oundRect">
            <a:avLst>
              <a:gd name="adj" fmla="val 50000"/>
            </a:avLst>
          </a:prstGeom>
          <a:solidFill>
            <a:srgbClr val="CFE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6AE6F5-38E0-43AB-8A01-A98C2FBA3EF2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 · 数字孪生答辩原型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A876D3-BCD7-4424-BEB8-F7328D2252EA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22374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ABD0002B-D314-4CBB-AADB-AE747E3A098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E97624-03FE-4584-8F4C-0A1181D8881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故障处理的关键：策略目标不等于设备已经执行成功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3EE978-CE75-42FF-92B7-EED3B4DE51BE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三个场景从数据质量、控制反馈和报警生命周期验证闭环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75C75E-2911-4F6D-9851-C14D5F5B6B05}"/>
              </a:ext>
            </a:extLst>
          </p:cNvPr>
          <p:cNvSpPr>
            <a:spLocks noGrp="1"/>
          </p:cNvSpPr>
          <p:nvPr/>
        </p:nvSpPr>
        <p:spPr>
          <a:xfrm>
            <a:off x="8724900" y="4572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8498407-F9C6-4227-AF11-9C33A808363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76A3988-0A37-4FB4-90C4-96D2FC10D2F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4775" cy="1047750"/>
          </a:xfrm>
          <a:prstGeom prst="roundRect">
            <a:avLst>
              <a:gd name="adj" fmla="val 50000"/>
            </a:avLst>
          </a:prstGeom>
          <a:solidFill>
            <a:srgbClr val="0D6B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96E25A-C4B4-4D40-BAD4-24DAC8EDD183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土壤干旱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1A96CA-609B-4BF6-BEDA-F48BA04ACB17}"/>
              </a:ext>
            </a:extLst>
          </p:cNvPr>
          <p:cNvSpPr>
            <a:spLocks noGrp="1"/>
          </p:cNvSpPr>
          <p:nvPr/>
        </p:nvSpPr>
        <p:spPr>
          <a:xfrm>
            <a:off x="2743200" y="2047875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湿度降低 → 报警 → 灌溉目标 → 水泵执行 → 湿度恢复 → 报警解除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1780A78-CA5A-44CD-A1AD-FE35AE19CC92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108204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4588756-5A11-4DAE-B7F3-ACCBC0A7737D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104775" cy="1047750"/>
          </a:xfrm>
          <a:prstGeom prst="roundRect">
            <a:avLst>
              <a:gd name="adj" fmla="val 50000"/>
            </a:avLst>
          </a:prstGeom>
          <a:solidFill>
            <a:srgbClr val="B949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B0E654-FA37-4040-8B90-D6A234B1460B}"/>
              </a:ext>
            </a:extLst>
          </p:cNvPr>
          <p:cNvSpPr>
            <a:spLocks noGrp="1"/>
          </p:cNvSpPr>
          <p:nvPr/>
        </p:nvSpPr>
        <p:spPr>
          <a:xfrm>
            <a:off x="1028700" y="340042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水泵故障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C4A5E0-327B-437B-8CAB-8B152F96CE90}"/>
              </a:ext>
            </a:extLst>
          </p:cNvPr>
          <p:cNvSpPr>
            <a:spLocks noGrp="1"/>
          </p:cNvSpPr>
          <p:nvPr/>
        </p:nvSpPr>
        <p:spPr>
          <a:xfrm>
            <a:off x="2743200" y="3429000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目标开启 → 实际未运行 → 控制通道失败 → 故障报警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08F561C-1228-42A0-A04B-003E0B48AABE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204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C97479F-1BEA-402B-B948-5E80A043046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4775" cy="1047750"/>
          </a:xfrm>
          <a:prstGeom prst="roundRect">
            <a:avLst>
              <a:gd name="adj" fmla="val 50000"/>
            </a:avLst>
          </a:prstGeom>
          <a:solidFill>
            <a:srgbClr val="D889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CEA4B7-E6AA-45A4-AD49-FAACD670545B}"/>
              </a:ext>
            </a:extLst>
          </p:cNvPr>
          <p:cNvSpPr>
            <a:spLocks noGrp="1"/>
          </p:cNvSpPr>
          <p:nvPr/>
        </p:nvSpPr>
        <p:spPr>
          <a:xfrm>
            <a:off x="1028700" y="4781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传感器离线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504A4F-C8D8-4FE6-AEAB-01537529F14A}"/>
              </a:ext>
            </a:extLst>
          </p:cNvPr>
          <p:cNvSpPr>
            <a:spLocks noGrp="1"/>
          </p:cNvSpPr>
          <p:nvPr/>
        </p:nvSpPr>
        <p:spPr>
          <a:xfrm>
            <a:off x="2743200" y="4810125"/>
            <a:ext cx="828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质量变为 offline → 数据不参与自动控制 → 异常报警 → 恢复后重新采集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113251-1F00-4E55-A6D8-62ECFEADD723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策略产生的控制目标，并不代表设备已经真实执行成功。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7705953-CC03-4A48-92DD-E88FEF6E48A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oundRect">
            <a:avLst>
              <a:gd name="adj" fmla="val 50000"/>
            </a:avLst>
          </a:prstGeom>
          <a:solidFill>
            <a:srgbClr val="CFE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AE5DC6-6F71-4397-A50E-B06252AE68ED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 · 数字孪生答辩原型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AF9383-BEF8-4EC1-AE4E-E4893932C383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250171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EBBAEFE-F395-4CD4-9EAF-A103B8A9985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4278B5-CCB4-41EA-900D-54247BD16A2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现场演示用三次单步推进，把闭环讲清楚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99C17E-3AA2-4375-839E-A83C4E17205C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每一步都采用固定种子与答辩复位，保证状态可重复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2ACEF8-8CF3-44A5-93CA-F62B39534661}"/>
              </a:ext>
            </a:extLst>
          </p:cNvPr>
          <p:cNvSpPr>
            <a:spLocks noGrp="1"/>
          </p:cNvSpPr>
          <p:nvPr/>
        </p:nvSpPr>
        <p:spPr>
          <a:xfrm>
            <a:off x="8724900" y="4572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t="6125" b="6125"/>
          <a:stretch>
            <a:fillRect/>
          </a:stretch>
        </p:blipFill>
        <p:spPr>
          <a:xfrm>
            <a:off x="685800" y="1866900"/>
            <a:ext cx="6096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2594B59-7234-4A0D-B7D4-19BEF2AEE91B}"/>
              </a:ext>
            </a:extLst>
          </p:cNvPr>
          <p:cNvSpPr>
            <a:spLocks noGrp="1"/>
          </p:cNvSpPr>
          <p:nvPr/>
        </p:nvSpPr>
        <p:spPr>
          <a:xfrm>
            <a:off x="7181850" y="1847850"/>
            <a:ext cx="38481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3850D2-B15C-4BD4-BE20-1A03240F67BF}"/>
              </a:ext>
            </a:extLst>
          </p:cNvPr>
          <p:cNvSpPr>
            <a:spLocks noGrp="1"/>
          </p:cNvSpPr>
          <p:nvPr/>
        </p:nvSpPr>
        <p:spPr>
          <a:xfrm>
            <a:off x="7391400" y="19621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1  答辩复位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0701D44-ACA0-49A3-B990-58D65E6D43BB}"/>
              </a:ext>
            </a:extLst>
          </p:cNvPr>
          <p:cNvSpPr>
            <a:spLocks noGrp="1"/>
          </p:cNvSpPr>
          <p:nvPr/>
        </p:nvSpPr>
        <p:spPr>
          <a:xfrm>
            <a:off x="7181850" y="2438400"/>
            <a:ext cx="38481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BB785D-5C05-40C3-90B6-C2EA1F9D1E05}"/>
              </a:ext>
            </a:extLst>
          </p:cNvPr>
          <p:cNvSpPr>
            <a:spLocks noGrp="1"/>
          </p:cNvSpPr>
          <p:nvPr/>
        </p:nvSpPr>
        <p:spPr>
          <a:xfrm>
            <a:off x="7391400" y="255270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2  土壤干旱：单步推进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D5A5AAE-7C6D-41FD-AC7E-91B8CBA058DB}"/>
              </a:ext>
            </a:extLst>
          </p:cNvPr>
          <p:cNvSpPr>
            <a:spLocks noGrp="1"/>
          </p:cNvSpPr>
          <p:nvPr/>
        </p:nvSpPr>
        <p:spPr>
          <a:xfrm>
            <a:off x="7181850" y="3028950"/>
            <a:ext cx="38481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2A7C74-6AC8-4836-BC36-EA90E2194FEF}"/>
              </a:ext>
            </a:extLst>
          </p:cNvPr>
          <p:cNvSpPr>
            <a:spLocks noGrp="1"/>
          </p:cNvSpPr>
          <p:nvPr/>
        </p:nvSpPr>
        <p:spPr>
          <a:xfrm>
            <a:off x="7391400" y="31432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3  水泵故障：单步推进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1B83771-E88F-4373-8E33-78B70EAA1766}"/>
              </a:ext>
            </a:extLst>
          </p:cNvPr>
          <p:cNvSpPr>
            <a:spLocks noGrp="1"/>
          </p:cNvSpPr>
          <p:nvPr/>
        </p:nvSpPr>
        <p:spPr>
          <a:xfrm>
            <a:off x="7181850" y="3619500"/>
            <a:ext cx="384810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5B8563-1EED-4622-B0D8-50EEF7152228}"/>
              </a:ext>
            </a:extLst>
          </p:cNvPr>
          <p:cNvSpPr>
            <a:spLocks noGrp="1"/>
          </p:cNvSpPr>
          <p:nvPr/>
        </p:nvSpPr>
        <p:spPr>
          <a:xfrm>
            <a:off x="7391400" y="373380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4  传感器离线：单步推进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D63E1E9-BC7B-47B1-9A74-3F04B39E2E08}"/>
              </a:ext>
            </a:extLst>
          </p:cNvPr>
          <p:cNvSpPr>
            <a:spLocks noGrp="1"/>
          </p:cNvSpPr>
          <p:nvPr/>
        </p:nvSpPr>
        <p:spPr>
          <a:xfrm>
            <a:off x="7181850" y="4210050"/>
            <a:ext cx="3848100" cy="438150"/>
          </a:xfrm>
          <a:prstGeom prst="roundRect">
            <a:avLst>
              <a:gd name="adj" fmla="val 26087"/>
            </a:avLst>
          </a:prstGeom>
          <a:solidFill>
            <a:srgbClr val="FFF4DE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36ED24-3562-4A72-824B-08F11F413E81}"/>
              </a:ext>
            </a:extLst>
          </p:cNvPr>
          <p:cNvSpPr>
            <a:spLocks noGrp="1"/>
          </p:cNvSpPr>
          <p:nvPr/>
        </p:nvSpPr>
        <p:spPr>
          <a:xfrm>
            <a:off x="7391400" y="43243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5  报警筛选与 CSV 导出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C1B835-598D-460B-8B10-1AAB8F30AB9C}"/>
              </a:ext>
            </a:extLst>
          </p:cNvPr>
          <p:cNvSpPr>
            <a:spLocks noGrp="1"/>
          </p:cNvSpPr>
          <p:nvPr/>
        </p:nvSpPr>
        <p:spPr>
          <a:xfrm>
            <a:off x="7181850" y="4800600"/>
            <a:ext cx="3848100" cy="438150"/>
          </a:xfrm>
          <a:prstGeom prst="roundRect">
            <a:avLst>
              <a:gd name="adj" fmla="val 26087"/>
            </a:avLst>
          </a:prstGeom>
          <a:solidFill>
            <a:srgbClr val="FFF4DE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62C3C6-1F7F-4871-A9C5-1CE6AC7F8AD7}"/>
              </a:ext>
            </a:extLst>
          </p:cNvPr>
          <p:cNvSpPr>
            <a:spLocks noGrp="1"/>
          </p:cNvSpPr>
          <p:nvPr/>
        </p:nvSpPr>
        <p:spPr>
          <a:xfrm>
            <a:off x="7391400" y="491490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6  快照导出或恢复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58C213-AE0C-42A0-B00D-3E4726B4A3D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操作提示：演示中持续解释“数据质量—目标状态—实际状态—报警”的变化，避免只点击不说明。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BD2268E-8F10-43CA-BCBE-3270AFA587D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oundRect">
            <a:avLst>
              <a:gd name="adj" fmla="val 50000"/>
            </a:avLst>
          </a:prstGeom>
          <a:solidFill>
            <a:srgbClr val="CFE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17C001-0879-430A-94EB-92315CF4CC50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 · 数字孪生答辩原型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57A425-7CCC-4791-9E7B-FB81E94B3771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52599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EAE88FC-27A7-4116-A5DE-B81CE1F061E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20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sz="1200" b="1" dirty="0">
              <a:solidFill>
                <a:srgbClr val="79C8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4D005A-6CE9-4398-B047-07A8B30C788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当前边界清楚，下一阶段路径明确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FC504A-440D-47AB-8043-10CA6C425305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可靠原型的价值在于先验证闭环，再接入真实硬件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2E475B-1B77-4BAE-9A66-4B361F03D228}"/>
              </a:ext>
            </a:extLst>
          </p:cNvPr>
          <p:cNvSpPr>
            <a:spLocks noGrp="1"/>
          </p:cNvSpPr>
          <p:nvPr/>
        </p:nvSpPr>
        <p:spPr>
          <a:xfrm>
            <a:off x="8724900" y="4572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6D5AD20-DB33-4CA0-B133-A50CDA274128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76250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C9178F-6C88-4C6D-BE08-80412210764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6200" cy="2762250"/>
          </a:xfrm>
          <a:prstGeom prst="roundRect">
            <a:avLst>
              <a:gd name="adj" fmla="val 50000"/>
            </a:avLst>
          </a:prstGeom>
          <a:solidFill>
            <a:srgbClr val="0D6B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08E055-8D51-43F8-A544-F4BB2680779F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当前完成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0CD3D5-D35A-406E-8EED-2B9EE3E36DAA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4381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数字孪生仿真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控制与报警闭环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故障注入与离线演示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数据、控制接口抽象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2725607-E7F3-4B25-8011-C6A2D66518EB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410200" cy="27622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FE3D8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17F4CA6-A2FC-48B2-B43D-683CD20E0B01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76200" cy="2762250"/>
          </a:xfrm>
          <a:prstGeom prst="roundRect">
            <a:avLst>
              <a:gd name="adj" fmla="val 50000"/>
            </a:avLst>
          </a:prstGeom>
          <a:solidFill>
            <a:srgbClr val="D889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10FFA-0727-48AC-BB73-CDFC60120174}"/>
              </a:ext>
            </a:extLst>
          </p:cNvPr>
          <p:cNvSpPr>
            <a:spLocks noGrp="1"/>
          </p:cNvSpPr>
          <p:nvPr/>
        </p:nvSpPr>
        <p:spPr>
          <a:xfrm>
            <a:off x="6324600" y="2190750"/>
            <a:ext cx="502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F8B4E3-3556-417F-B169-43F5ECF9F6DA}"/>
              </a:ext>
            </a:extLst>
          </p:cNvPr>
          <p:cNvSpPr>
            <a:spLocks noGrp="1"/>
          </p:cNvSpPr>
          <p:nvPr/>
        </p:nvSpPr>
        <p:spPr>
          <a:xfrm>
            <a:off x="6324600" y="2552700"/>
            <a:ext cx="50292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1. 接入 HTTP 传感器数据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2. 增加 WebSocket 实时数据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3. 接入 MQTT 数据与设备控制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4. 接入真实边缘网关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5. 增加数据库与历史分析</a:t>
            </a:r>
          </a:p>
          <a:p>
            <a:pPr algn="l">
              <a:def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6. 接入真实 AI 病虫害识别模型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2F2249-36CB-4C56-ABC5-D0B04DC1FE3E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B949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493E"/>
                </a:solidFill>
                <a:latin typeface="Microsoft YaHei"/>
                <a:ea typeface="Microsoft YaHei"/>
                <a:cs typeface="Microsoft YaHei"/>
              </a:rPr>
              <a:t>如实说明：真实传感器、控制器、边缘网关、HTTP、WebSocket、MQTT 和数据库尚未接入。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6C89711-C8B8-44C9-A5DD-541B1B11EFA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oundRect">
            <a:avLst>
              <a:gd name="adj" fmla="val 50000"/>
            </a:avLst>
          </a:prstGeom>
          <a:solidFill>
            <a:srgbClr val="CFE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D868DD-E691-492B-8021-77C17FD7F4AD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AIoT 智慧温室种植系统 · 数字孪生答辩原型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3E5687-2A89-4075-ADF9-BE5752DA9411}"/>
              </a:ext>
            </a:extLst>
          </p:cNvPr>
          <p:cNvSpPr>
            <a:spLocks noGrp="1"/>
          </p:cNvSpPr>
          <p:nvPr/>
        </p:nvSpPr>
        <p:spPr>
          <a:xfrm>
            <a:off x="10668000" y="657225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D716A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57760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1B4AD24-A9DA-4BB4-8A1E-1E7C4C9ADD0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9C88B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E6223F9-C34B-4809-8DFB-0E2ADCACADE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00050" cy="400050"/>
          </a:xfrm>
          <a:prstGeom prst="ellipse">
            <a:avLst/>
          </a:prstGeom>
          <a:solidFill>
            <a:srgbClr val="79C8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2ED9D9-F57A-4642-8040-A5C8D999027B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A9A81E-EDD3-4A69-8FA4-F517EF29A9EC}"/>
              </a:ext>
            </a:extLst>
          </p:cNvPr>
          <p:cNvSpPr>
            <a:spLocks noGrp="1"/>
          </p:cNvSpPr>
          <p:nvPr/>
        </p:nvSpPr>
        <p:spPr>
          <a:xfrm>
            <a:off x="1333500" y="185737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构建完整的环境感知与控制闭环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52DA4B5-F480-4D31-BB42-9D4C69676CB3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400050" cy="400050"/>
          </a:xfrm>
          <a:prstGeom prst="ellipse">
            <a:avLst/>
          </a:prstGeom>
          <a:solidFill>
            <a:srgbClr val="79C8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DE425F-3CF9-42F3-82E8-6E7BC12E1E9F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F08D46-9437-406B-B347-511B4E5D3801}"/>
              </a:ext>
            </a:extLst>
          </p:cNvPr>
          <p:cNvSpPr>
            <a:spLocks noGrp="1"/>
          </p:cNvSpPr>
          <p:nvPr/>
        </p:nvSpPr>
        <p:spPr>
          <a:xfrm>
            <a:off x="1333500" y="277177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能够可靠处理传感器与设备故障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332A6CA-1A1A-47B8-B508-03116F1FBF7A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400050"/>
          </a:xfrm>
          <a:prstGeom prst="ellipse">
            <a:avLst/>
          </a:prstGeom>
          <a:solidFill>
            <a:srgbClr val="79C8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6B98FF-0F82-4670-9ABE-18A4CD324D0F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6F2E42-D95A-47C2-8AC1-E5190E69652A}"/>
              </a:ext>
            </a:extLst>
          </p:cNvPr>
          <p:cNvSpPr>
            <a:spLocks noGrp="1"/>
          </p:cNvSpPr>
          <p:nvPr/>
        </p:nvSpPr>
        <p:spPr>
          <a:xfrm>
            <a:off x="1333500" y="368617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为真实硬件接入建立可扩展工程基础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9A2497-FC4D-4D5E-AF53-563921023AB0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5143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感谢各位老师聆听</a:t>
            </a:r>
          </a:p>
          <a:p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恳请批评指正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C36425-ABA9-4770-B82F-176EEF0213C4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B8DA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DACA"/>
                </a:solidFill>
                <a:latin typeface="Microsoft YaHei"/>
                <a:ea typeface="Microsoft YaHei"/>
                <a:cs typeface="Microsoft YaHei"/>
              </a:rPr>
              <a:t>AIoT 智慧温室种植系统 · 数字孪生答辩原型</a:t>
            </a:r>
          </a:p>
        </p:txBody>
      </p:sp>
    </p:spTree>
    <p:extLst>
      <p:ext uri="{BB962C8B-B14F-4D97-AF65-F5344CB8AC3E}">
        <p14:creationId xmlns:p14="http://schemas.microsoft.com/office/powerpoint/2010/main" val="10501534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428</Words>
  <Application>Microsoft Office PowerPoint</Application>
  <DocSecurity>0</DocSecurity>
  <PresentationFormat>宽屏</PresentationFormat>
  <Paragraphs>147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 Pt</cp:lastModifiedBy>
  <cp:revision>10</cp:revision>
  <dcterms:created xsi:type="dcterms:W3CDTF">2026-07-15T07:34:35Z</dcterms:created>
  <dcterms:modified xsi:type="dcterms:W3CDTF">2026-07-16T07:18:35Z</dcterms:modified>
</cp:coreProperties>
</file>